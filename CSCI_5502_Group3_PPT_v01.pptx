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Alfa Slab One" panose="020B0604020202020204" charset="0"/>
      <p:regular r:id="rId18"/>
    </p:embeddedFont>
    <p:embeddedFont>
      <p:font typeface="Proxima Nova" panose="020B0604020202020204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shi Kant Kumawat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FC6E59-F3E8-433C-9DFB-BBD00634D32A}">
  <a:tblStyle styleId="{7BFC6E59-F3E8-433C-9DFB-BBD00634D3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14" y="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2-18T08:34:51.806" idx="1">
    <p:pos x="2880" y="476"/>
    <p:text>@venkatasairam.y@gmail.com : The previous graph looked better. It has numbers and hence can confuse readers. Let's change it back to the original graph.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640df4304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640df4304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40df43048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40df43048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40df4304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40df4304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40df43048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40df43048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40df43048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40df43048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40df43048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40df43048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40df43048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40df43048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40df43048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640df43048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40df43048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40df43048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95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endParaRPr sz="1495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95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Investigation Approach: By analyzing the created_at dates of repositories, we can look for patterns or spikes in repository creation over time (monthly or yearly). A significant increase in certain periods compared to others could support this hypothesis.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40df43048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40df43048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95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40df43048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40df43048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95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40df43048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40df43048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V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40df43048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40df43048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40df43048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40df43048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Picture 2" descr="A group of people working at computers&#10;&#10;Description automatically generated">
            <a:extLst>
              <a:ext uri="{FF2B5EF4-FFF2-40B4-BE49-F238E27FC236}">
                <a16:creationId xmlns:a16="http://schemas.microsoft.com/office/drawing/2014/main" id="{089A021C-85BF-43A1-BD26-293ACF7B9EC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Cemen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59"/>
              <a:t>Behind the Code: Uncovering Trends in Open Source Development</a:t>
            </a:r>
            <a:endParaRPr sz="3259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165827"/>
            <a:ext cx="8520600" cy="13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3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Shashi Kant Kumawat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Venkata Sairam Yanamandra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 2023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" sz="2660" dirty="0"/>
              <a:t>Context</a:t>
            </a:r>
            <a:endParaRPr sz="2660" dirty="0"/>
          </a:p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" sz="2660" dirty="0"/>
              <a:t>Data Collection </a:t>
            </a:r>
            <a:endParaRPr sz="2660" dirty="0"/>
          </a:p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" sz="2660" dirty="0"/>
              <a:t>Data Cleaning methods</a:t>
            </a:r>
            <a:endParaRPr sz="2660" dirty="0"/>
          </a:p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" sz="2660" dirty="0"/>
              <a:t>Data Analysis</a:t>
            </a:r>
            <a:endParaRPr sz="2660" dirty="0"/>
          </a:p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-US" sz="2660" dirty="0"/>
              <a:t>Hypothesis Testing</a:t>
            </a:r>
            <a:endParaRPr sz="2660" dirty="0"/>
          </a:p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" sz="2660" dirty="0"/>
              <a:t>Reflections</a:t>
            </a:r>
            <a:endParaRPr sz="2660" dirty="0"/>
          </a:p>
          <a:p>
            <a:pPr marL="914400" lvl="0" indent="-3975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60"/>
              <a:buChar char="●"/>
            </a:pPr>
            <a:r>
              <a:rPr lang="en" sz="2660" dirty="0"/>
              <a:t>About the authors</a:t>
            </a:r>
            <a:endParaRPr sz="2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0" y="1152475"/>
            <a:ext cx="9144000" cy="31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21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60"/>
              <a:buChar char="●"/>
            </a:pPr>
            <a:r>
              <a:rPr lang="en" sz="2260"/>
              <a:t>Open-source is interesting - For individuals and for firms</a:t>
            </a:r>
            <a:endParaRPr sz="2260"/>
          </a:p>
          <a:p>
            <a:pPr marL="457200" lvl="0" indent="-3721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60"/>
              <a:buChar char="●"/>
            </a:pPr>
            <a:r>
              <a:rPr lang="en" sz="2260"/>
              <a:t>What’s in it for them? Why contribute to contribute non-proprietary software development?</a:t>
            </a:r>
            <a:endParaRPr sz="2260"/>
          </a:p>
          <a:p>
            <a:pPr marL="914400" lvl="1" indent="-3467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0"/>
              <a:buChar char="○"/>
            </a:pPr>
            <a:r>
              <a:rPr lang="en" sz="1860"/>
              <a:t>Individuals: Ideology, Altruism, Kinship, Fun, Reputation, Reciprocity, Learning, Career</a:t>
            </a:r>
            <a:r>
              <a:rPr lang="en" sz="1860" baseline="30000"/>
              <a:t>1</a:t>
            </a:r>
            <a:endParaRPr sz="1860" baseline="30000"/>
          </a:p>
          <a:p>
            <a:pPr marL="914400" lvl="1" indent="-3467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0"/>
              <a:buChar char="○"/>
            </a:pPr>
            <a:r>
              <a:rPr lang="en" sz="1860"/>
              <a:t>Firms: Attracting talent, Faster &amp; low-cost development, Signaling to the Community</a:t>
            </a:r>
            <a:r>
              <a:rPr lang="en" sz="1860" baseline="30000"/>
              <a:t>2</a:t>
            </a:r>
            <a:endParaRPr sz="1860" baseline="30000"/>
          </a:p>
          <a:p>
            <a:pPr marL="457200" lvl="0" indent="-3721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60"/>
              <a:buChar char="●"/>
            </a:pPr>
            <a:r>
              <a:rPr lang="en" sz="2260"/>
              <a:t>Trends in Open-source contributions</a:t>
            </a:r>
            <a:endParaRPr sz="2260"/>
          </a:p>
          <a:p>
            <a:pPr marL="457200" lvl="0" indent="-3721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60"/>
              <a:buChar char="●"/>
            </a:pPr>
            <a:r>
              <a:rPr lang="en" sz="2260"/>
              <a:t>Hypotheses</a:t>
            </a:r>
            <a:endParaRPr sz="2260"/>
          </a:p>
        </p:txBody>
      </p:sp>
      <p:sp>
        <p:nvSpPr>
          <p:cNvPr id="70" name="Google Shape;70;p15"/>
          <p:cNvSpPr txBox="1"/>
          <p:nvPr/>
        </p:nvSpPr>
        <p:spPr>
          <a:xfrm>
            <a:off x="-50" y="4245425"/>
            <a:ext cx="91440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Sources: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 Von Krogh, G., Haefliger, S., Spaeth, S., &amp; Wallin, M. W. (2012). Carrots and rainbows: Motivation and social practice in open source software development. MIS quarterly, 649-676.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 https://sloanreview.mit.edu/article/companies-are-making-serious-money-with-ai/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methods</a:t>
            </a:r>
            <a:endParaRPr/>
          </a:p>
        </p:txBody>
      </p:sp>
      <p:grpSp>
        <p:nvGrpSpPr>
          <p:cNvPr id="76" name="Google Shape;76;p16"/>
          <p:cNvGrpSpPr/>
          <p:nvPr/>
        </p:nvGrpSpPr>
        <p:grpSpPr>
          <a:xfrm>
            <a:off x="3803375" y="1189775"/>
            <a:ext cx="2473004" cy="3483050"/>
            <a:chOff x="5632303" y="1189775"/>
            <a:chExt cx="3305714" cy="3483050"/>
          </a:xfrm>
        </p:grpSpPr>
        <p:sp>
          <p:nvSpPr>
            <p:cNvPr id="77" name="Google Shape;77;p1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rgbClr val="D837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transformation and validation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16"/>
            <p:cNvSpPr txBox="1"/>
            <p:nvPr/>
          </p:nvSpPr>
          <p:spPr>
            <a:xfrm>
              <a:off x="5632303" y="2057125"/>
              <a:ext cx="3039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Applied Stratified Sampling technique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Validating  of each column in the dataset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Selecting the relevant features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16"/>
          <p:cNvGrpSpPr/>
          <p:nvPr/>
        </p:nvGrpSpPr>
        <p:grpSpPr>
          <a:xfrm>
            <a:off x="0" y="1189995"/>
            <a:ext cx="2144456" cy="3482830"/>
            <a:chOff x="0" y="1189989"/>
            <a:chExt cx="3546900" cy="3482830"/>
          </a:xfrm>
        </p:grpSpPr>
        <p:sp>
          <p:nvSpPr>
            <p:cNvPr id="80" name="Google Shape;80;p16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name="adj" fmla="val 50000"/>
              </a:avLst>
            </a:prstGeom>
            <a:solidFill>
              <a:srgbClr val="801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0" y="2057119"/>
              <a:ext cx="31053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GitHub REST API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Postman API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Data Integration 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" name="Google Shape;82;p16"/>
          <p:cNvGrpSpPr/>
          <p:nvPr/>
        </p:nvGrpSpPr>
        <p:grpSpPr>
          <a:xfrm>
            <a:off x="1642946" y="1189775"/>
            <a:ext cx="2436741" cy="3483050"/>
            <a:chOff x="2592231" y="1189775"/>
            <a:chExt cx="3657673" cy="3483050"/>
          </a:xfrm>
        </p:grpSpPr>
        <p:sp>
          <p:nvSpPr>
            <p:cNvPr id="83" name="Google Shape;83;p16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rgbClr val="B02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cleaning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2592231" y="2057125"/>
              <a:ext cx="3414965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Handling NULL Values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Handling Inconsistent Data Types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Handling Duplicate records</a:t>
              </a:r>
            </a:p>
            <a:p>
              <a:pPr marL="139700" lvl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6013175" y="1189775"/>
            <a:ext cx="2473004" cy="3483050"/>
            <a:chOff x="5632303" y="1189775"/>
            <a:chExt cx="3305713" cy="3483050"/>
          </a:xfrm>
        </p:grpSpPr>
        <p:sp>
          <p:nvSpPr>
            <p:cNvPr id="86" name="Google Shape;86;p1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Analysis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5632303" y="2057125"/>
              <a:ext cx="33057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Exploratory Data Analysis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Clustering (k-means)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Hypotheses testing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Trend analysis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Case study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 - Language wise Contributions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is the most popular language used in Open-source project on GitHub among the individual contributors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C++ is the tops one among the contributors belonging to organizations (firms)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*Data date range: 2014-2022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099" y="917533"/>
            <a:ext cx="5080651" cy="4225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 - Language wise Contributions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0" y="1194825"/>
            <a:ext cx="3081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C++ and C remain the leading languages in the open-source projects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HTML has also picked up adoption, while Javascript use is much lower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263" y="1727100"/>
            <a:ext cx="610773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237359" y="9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</a:t>
            </a:r>
            <a:br>
              <a:rPr lang="en" dirty="0"/>
            </a:br>
            <a:endParaRPr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155583" y="668350"/>
            <a:ext cx="4572534" cy="43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Clustered the dataset into two divisions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Users repository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Organizational repository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Implemented the following clustering algorithms: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K-Means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DBSCAN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Agglomerative Clustering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dirty="0"/>
          </a:p>
          <a:p>
            <a:pPr marL="139700" indent="0">
              <a:buSzPts val="1400"/>
              <a:buNone/>
            </a:pPr>
            <a:r>
              <a:rPr lang="en" dirty="0"/>
              <a:t>How good is my Clustered Data ?</a:t>
            </a:r>
          </a:p>
          <a:p>
            <a:pPr marL="139700" indent="0">
              <a:buSzPts val="1400"/>
              <a:buNone/>
            </a:pPr>
            <a:r>
              <a:rPr lang="en-US" dirty="0"/>
              <a:t>Silhouette Score: -1 to 1</a:t>
            </a:r>
          </a:p>
          <a:p>
            <a:pPr marL="596900" lvl="1" indent="0">
              <a:buNone/>
            </a:pPr>
            <a:r>
              <a:rPr lang="en" dirty="0"/>
              <a:t>-1: Incorrectly Clustered the data points</a:t>
            </a:r>
          </a:p>
          <a:p>
            <a:pPr marL="596900" lvl="1" indent="0">
              <a:buNone/>
            </a:pPr>
            <a:r>
              <a:rPr lang="en" dirty="0"/>
              <a:t>0: Overlapping of the datapoints</a:t>
            </a:r>
          </a:p>
          <a:p>
            <a:pPr marL="596900" lvl="1" indent="0">
              <a:buNone/>
            </a:pPr>
            <a:r>
              <a:rPr lang="en" dirty="0"/>
              <a:t>1:  Datapoints in the cluster are well separated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56925"/>
            <a:ext cx="4267199" cy="3113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 - US State wise Contributions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0" y="1152475"/>
            <a:ext cx="4362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California, New York, Texas, Washington, Illinois, and Massachusetts lead in OSS contributions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Wyoming, North Dakota, and Delaware have the least contributions to the OSS projects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 expected as the countries major Computer science innovation and business clusters are located in these states</a:t>
            </a:r>
            <a:r>
              <a:rPr lang="en" baseline="30000"/>
              <a:t>1</a:t>
            </a:r>
            <a:endParaRPr baseline="30000"/>
          </a:p>
        </p:txBody>
      </p:sp>
      <p:sp>
        <p:nvSpPr>
          <p:cNvPr id="115" name="Google Shape;115;p20"/>
          <p:cNvSpPr txBox="1"/>
          <p:nvPr/>
        </p:nvSpPr>
        <p:spPr>
          <a:xfrm>
            <a:off x="0" y="4449225"/>
            <a:ext cx="91440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Source: 1 Moretti, E. (2021). The effect of high-tech clusters on the productivity of top inventors. American Economic Review, 111(10), 3328-3375.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400" y="918859"/>
            <a:ext cx="4362600" cy="3530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Hypothesis#1: Language Specificity in Contributions</a:t>
            </a:r>
            <a:endParaRPr sz="2300"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0" y="1152475"/>
            <a:ext cx="5600700" cy="37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H0 (Null</a:t>
            </a:r>
            <a:r>
              <a:rPr lang="en" sz="1495"/>
              <a:t>): The average number of contributions per user is the same across different programming languages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H1 (Alternative)</a:t>
            </a:r>
            <a:r>
              <a:rPr lang="en" sz="1495"/>
              <a:t>: Certain programming languages are associated with significantly higher average contributions per user than others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/>
              <a:t>This could indicate that some languages show have more productivity than others. 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95" b="1" i="1"/>
              <a:t>Conclusion: </a:t>
            </a:r>
            <a:r>
              <a:rPr lang="en" sz="1495"/>
              <a:t>The low p-values in the ANOVA test indicates that the average number of contributions per user is the not same across different programming languages among both individual and organization developers</a:t>
            </a:r>
            <a:endParaRPr sz="1495"/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5600700" y="1428750"/>
          <a:ext cx="3543300" cy="1616750"/>
        </p:xfrm>
        <a:graphic>
          <a:graphicData uri="http://schemas.openxmlformats.org/drawingml/2006/table">
            <a:tbl>
              <a:tblPr>
                <a:noFill/>
                <a:tableStyleId>{7BFC6E59-F3E8-433C-9DFB-BBD00634D32A}</a:tableStyleId>
              </a:tblPr>
              <a:tblGrid>
                <a:gridCol w="125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ANOVA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F-statistic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p-value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Users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1.440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3.208 * 10</a:t>
                      </a:r>
                      <a:r>
                        <a:rPr lang="en" baseline="30000"/>
                        <a:t>-7</a:t>
                      </a:r>
                      <a:endParaRPr baseline="30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organizations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1.923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8.997 * 10</a:t>
                      </a:r>
                      <a:r>
                        <a:rPr lang="en" baseline="30000"/>
                        <a:t>-11</a:t>
                      </a:r>
                      <a:endParaRPr baseline="30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Hypothesis#2: Temporal Activity Patterns in Repository Creation</a:t>
            </a:r>
            <a:endParaRPr sz="2300"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0" y="1316575"/>
            <a:ext cx="5188200" cy="35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H0 (Null</a:t>
            </a:r>
            <a:r>
              <a:rPr lang="en" sz="1495"/>
              <a:t>): there are no significant differences in repository creation across different times of the year.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H1 (Alternative)</a:t>
            </a:r>
            <a:r>
              <a:rPr lang="en" sz="1495"/>
              <a:t>:  There is variation in activity level during different months of a year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/>
              <a:t> 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95" b="1" i="1"/>
              <a:t>Conclusion: </a:t>
            </a:r>
            <a:r>
              <a:rPr lang="en" sz="1495"/>
              <a:t>The ANOVA test and the Heat map shows there is significant variation in the OSS contributions. This is perhaps because of holidays, academic cycles, industry trends, and events like hackathons</a:t>
            </a:r>
            <a:endParaRPr sz="1495"/>
          </a:p>
        </p:txBody>
      </p:sp>
      <p:graphicFrame>
        <p:nvGraphicFramePr>
          <p:cNvPr id="130" name="Google Shape;130;p22"/>
          <p:cNvGraphicFramePr/>
          <p:nvPr/>
        </p:nvGraphicFramePr>
        <p:xfrm>
          <a:off x="5321325" y="3656875"/>
          <a:ext cx="3822675" cy="1486625"/>
        </p:xfrm>
        <a:graphic>
          <a:graphicData uri="http://schemas.openxmlformats.org/drawingml/2006/table">
            <a:tbl>
              <a:tblPr>
                <a:noFill/>
                <a:tableStyleId>{7BFC6E59-F3E8-433C-9DFB-BBD00634D32A}</a:tableStyleId>
              </a:tblPr>
              <a:tblGrid>
                <a:gridCol w="127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ANOVA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F-statistic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p-value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Users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2.36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0.0065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organizations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24.36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1.119 * 10</a:t>
                      </a:r>
                      <a:r>
                        <a:rPr lang="en" baseline="30000"/>
                        <a:t>-50</a:t>
                      </a:r>
                      <a:endParaRPr baseline="30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326" y="1022438"/>
            <a:ext cx="3822676" cy="2634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8323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Hypothesis#3: Repository Activity and User Type Dynamics</a:t>
            </a:r>
            <a:endParaRPr sz="2300"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0" y="706975"/>
            <a:ext cx="4014900" cy="32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95" b="1" i="1"/>
              <a:t>H0 (Null</a:t>
            </a:r>
            <a:r>
              <a:rPr lang="en" sz="1395"/>
              <a:t>): There is no significant difference in push or update frequencies between repositories owned by individual users and organizations.</a:t>
            </a:r>
            <a:endParaRPr sz="1395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95" b="1" i="1"/>
              <a:t>H1 (Alternative)</a:t>
            </a:r>
            <a:r>
              <a:rPr lang="en" sz="1395"/>
              <a:t>: Organization-type users have repositories with more frequent activity (pushes and updates) than individual users, possibly due to more resources or collaborative efforts in organization</a:t>
            </a:r>
            <a:endParaRPr sz="1395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95" b="1" i="1"/>
              <a:t>Conclusion:</a:t>
            </a:r>
            <a:r>
              <a:rPr lang="en" sz="1395"/>
              <a:t>  we have enough evidence to reject the Null Hypothesis. It's evident from the t-test that the shorter time since the last push and update for organizations suggest that they are more active than users in terms of maintenance and updates.</a:t>
            </a:r>
            <a:endParaRPr sz="1395"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125" y="522550"/>
            <a:ext cx="1990024" cy="196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5850" y="522550"/>
            <a:ext cx="2039850" cy="17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8113" y="2321612"/>
            <a:ext cx="2039875" cy="18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8154" y="2321611"/>
            <a:ext cx="2225047" cy="174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23"/>
          <p:cNvGraphicFramePr/>
          <p:nvPr/>
        </p:nvGraphicFramePr>
        <p:xfrm>
          <a:off x="222025" y="3946000"/>
          <a:ext cx="3792875" cy="1197520"/>
        </p:xfrm>
        <a:graphic>
          <a:graphicData uri="http://schemas.openxmlformats.org/drawingml/2006/table">
            <a:tbl>
              <a:tblPr>
                <a:noFill/>
                <a:tableStyleId>{7BFC6E59-F3E8-433C-9DFB-BBD00634D32A}</a:tableStyleId>
              </a:tblPr>
              <a:tblGrid>
                <a:gridCol w="134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T-Test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t-statistic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i="1"/>
                        <a:t>p-value</a:t>
                      </a:r>
                      <a:endParaRPr b="1" i="1"/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Push 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-27.52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Update 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-38.50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" name="Google Shape;143;p23"/>
          <p:cNvSpPr txBox="1"/>
          <p:nvPr/>
        </p:nvSpPr>
        <p:spPr>
          <a:xfrm>
            <a:off x="4678075" y="4267050"/>
            <a:ext cx="4360500" cy="11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negative sign indicates that organizations have a lower mean days since the last update/push compared to individual users.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>
            <a:off x="311700" y="308950"/>
            <a:ext cx="8520600" cy="7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Hypothesis#4: Are certain languages more popular in certain states? </a:t>
            </a:r>
            <a:endParaRPr sz="2300"/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1"/>
          </p:nvPr>
        </p:nvSpPr>
        <p:spPr>
          <a:xfrm>
            <a:off x="153950" y="1107850"/>
            <a:ext cx="3806700" cy="39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H0 (Null</a:t>
            </a:r>
            <a:r>
              <a:rPr lang="en" sz="1495"/>
              <a:t>):   Certain programming languages are more popular in specific states due to regional factors.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H1 (Alternative)</a:t>
            </a:r>
            <a:r>
              <a:rPr lang="en" sz="1495"/>
              <a:t>:   Certain languages are not popular in certain states</a:t>
            </a:r>
            <a:endParaRPr sz="14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 b="1" i="1"/>
              <a:t>Conclusion</a:t>
            </a:r>
            <a:r>
              <a:rPr lang="en" sz="1495"/>
              <a:t>: </a:t>
            </a:r>
            <a:endParaRPr sz="1495"/>
          </a:p>
          <a:p>
            <a:pPr marL="457200" lvl="0" indent="-323532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Mean Chi-squared statistic over 100 repetitions: 6265.754</a:t>
            </a:r>
            <a:endParaRPr sz="1495"/>
          </a:p>
          <a:p>
            <a:pPr marL="457200" lvl="0" indent="-32353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5"/>
              <a:buChar char="●"/>
            </a:pPr>
            <a:r>
              <a:rPr lang="en" sz="1495"/>
              <a:t>Mean P-value over 100 repetitions: 0.664</a:t>
            </a:r>
            <a:endParaRPr sz="1495"/>
          </a:p>
          <a:p>
            <a:pPr marL="457200" lvl="0" indent="-31718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 It implies that there is  no enough evidence to reject the statement certain programming languages are popular in specific states for users and it's a clear rejection for organizations.</a:t>
            </a:r>
            <a:endParaRPr sz="1395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495"/>
          </a:p>
        </p:txBody>
      </p:sp>
      <p:graphicFrame>
        <p:nvGraphicFramePr>
          <p:cNvPr id="150" name="Google Shape;150;p24"/>
          <p:cNvGraphicFramePr/>
          <p:nvPr/>
        </p:nvGraphicFramePr>
        <p:xfrm>
          <a:off x="4057325" y="1015675"/>
          <a:ext cx="4774975" cy="2644535"/>
        </p:xfrm>
        <a:graphic>
          <a:graphicData uri="http://schemas.openxmlformats.org/drawingml/2006/table">
            <a:tbl>
              <a:tblPr>
                <a:noFill/>
                <a:tableStyleId>{7BFC6E59-F3E8-433C-9DFB-BBD00634D32A}</a:tableStyleId>
              </a:tblPr>
              <a:tblGrid>
                <a:gridCol w="170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Programming Language  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Popular States</a:t>
                      </a:r>
                      <a:endParaRPr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Illinois, Colorado, Oregon, Indiana 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C++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California, New York, Minneapolis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Jupyter Notebook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Illinois, Virginia, Michigan, Idaho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HTML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Illinois, Arizona, California 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JAVA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Texas, California, Kansas, Michigan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1" name="Google Shape;151;p24"/>
          <p:cNvGraphicFramePr/>
          <p:nvPr/>
        </p:nvGraphicFramePr>
        <p:xfrm>
          <a:off x="4057325" y="3855000"/>
          <a:ext cx="4255275" cy="1288375"/>
        </p:xfrm>
        <a:graphic>
          <a:graphicData uri="http://schemas.openxmlformats.org/drawingml/2006/table">
            <a:tbl>
              <a:tblPr>
                <a:noFill/>
                <a:tableStyleId>{7BFC6E59-F3E8-433C-9DFB-BBD00634D32A}</a:tableStyleId>
              </a:tblPr>
              <a:tblGrid>
                <a:gridCol w="178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Chi-Square Test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P- Value</a:t>
                      </a:r>
                      <a:endParaRPr b="1"/>
                    </a:p>
                  </a:txBody>
                  <a:tcPr marL="91425" marR="91425" marT="91425" marB="914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Users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0.6640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Orgs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3.082 * 10</a:t>
                      </a:r>
                      <a:r>
                        <a:rPr lang="en" baseline="30000"/>
                        <a:t>-13</a:t>
                      </a:r>
                      <a:endParaRPr baseline="30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Reflecting on the project</a:t>
            </a:r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was a great exercise </a:t>
            </a:r>
            <a:r>
              <a:rPr lang="en" b="1"/>
              <a:t>implementing our learning</a:t>
            </a:r>
            <a:r>
              <a:rPr lang="en"/>
              <a:t> from the course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researching for project ideas, we </a:t>
            </a:r>
            <a:r>
              <a:rPr lang="en" b="1"/>
              <a:t>developed great appreciation</a:t>
            </a:r>
            <a:r>
              <a:rPr lang="en"/>
              <a:t> of the applications of Data Science!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collection: We started with Web Scraping GitHub data, but realized </a:t>
            </a:r>
            <a:r>
              <a:rPr lang="en" b="1"/>
              <a:t>API route was more efficient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learned how to </a:t>
            </a:r>
            <a:r>
              <a:rPr lang="en" b="1"/>
              <a:t>coordinate efficiently</a:t>
            </a:r>
            <a:r>
              <a:rPr lang="en"/>
              <a:t> to execute various parts of the project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Apart from a tremendous learning of Python, we also </a:t>
            </a:r>
            <a:r>
              <a:rPr lang="en" b="1"/>
              <a:t>learned PowerBI </a:t>
            </a:r>
            <a:r>
              <a:rPr lang="en"/>
              <a:t>for some interesting visualizations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body" idx="1"/>
          </p:nvPr>
        </p:nvSpPr>
        <p:spPr>
          <a:xfrm>
            <a:off x="393700" y="1110150"/>
            <a:ext cx="8127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Shashi Kant Kumawat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First-year PhD Student (Strategy &amp; Entrepreneurship)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Leeds School of Business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University of Colorado at Boulder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Venkata Sairam Yanamandra </a:t>
            </a:r>
            <a:endParaRPr sz="2400"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First year Masters Student</a:t>
            </a:r>
            <a:endParaRPr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Depart of Data Science</a:t>
            </a:r>
            <a:endParaRPr dirty="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University of Colorado at Boulder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1103</Words>
  <Application>Microsoft Office PowerPoint</Application>
  <PresentationFormat>On-screen Show (16:9)</PresentationFormat>
  <Paragraphs>168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Roboto</vt:lpstr>
      <vt:lpstr>Alfa Slab One</vt:lpstr>
      <vt:lpstr>Proxima Nova</vt:lpstr>
      <vt:lpstr>Arial</vt:lpstr>
      <vt:lpstr>Gameday</vt:lpstr>
      <vt:lpstr>Behind the Code: Uncovering Trends in Open Source Development</vt:lpstr>
      <vt:lpstr>Table of Contents</vt:lpstr>
      <vt:lpstr>Context</vt:lpstr>
      <vt:lpstr>Data &amp; methods</vt:lpstr>
      <vt:lpstr>Trends - Language wise Contributions</vt:lpstr>
      <vt:lpstr>Trends - Language wise Contributions</vt:lpstr>
      <vt:lpstr>Clustering </vt:lpstr>
      <vt:lpstr>Trends - US State wise Contributions</vt:lpstr>
      <vt:lpstr>Hypothesis#1: Language Specificity in Contributions</vt:lpstr>
      <vt:lpstr>Hypothesis#2: Temporal Activity Patterns in Repository Creation</vt:lpstr>
      <vt:lpstr>Hypothesis#3: Repository Activity and User Type Dynamics</vt:lpstr>
      <vt:lpstr>Hypothesis#4: Are certain languages more popular in certain states? </vt:lpstr>
      <vt:lpstr>Reflecting on the project</vt:lpstr>
      <vt:lpstr>Meet the Team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Behind the Code: Uncovering Trends in Open Source Development</dc:title>
  <cp:lastModifiedBy>Venkata Yanamandra</cp:lastModifiedBy>
  <cp:revision>2</cp:revision>
  <dcterms:modified xsi:type="dcterms:W3CDTF">2023-12-20T03:59:00Z</dcterms:modified>
</cp:coreProperties>
</file>